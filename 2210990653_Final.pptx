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81" r:id="rId7"/>
    <p:sldId id="269" r:id="rId8"/>
    <p:sldId id="271" r:id="rId9"/>
    <p:sldId id="270" r:id="rId10"/>
    <p:sldId id="280" r:id="rId11"/>
    <p:sldId id="282" r:id="rId12"/>
    <p:sldId id="272" r:id="rId13"/>
    <p:sldId id="276" r:id="rId14"/>
    <p:sldId id="273" r:id="rId15"/>
    <p:sldId id="278" r:id="rId16"/>
    <p:sldId id="274" r:id="rId17"/>
    <p:sldId id="277" r:id="rId18"/>
    <p:sldId id="279" r:id="rId19"/>
    <p:sldId id="275" r:id="rId20"/>
    <p:sldId id="268" r:id="rId2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24"/>
  </p:normalViewPr>
  <p:slideViewPr>
    <p:cSldViewPr snapToGrid="0">
      <p:cViewPr varScale="1">
        <p:scale>
          <a:sx n="90" d="100"/>
          <a:sy n="90" d="100"/>
        </p:scale>
        <p:origin x="1171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2026-05-18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2026-05-18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2200" b="1"/>
              <a:t>Machine Learning Enabled Predictive Analytics for Diabetes Risk Detection</a:t>
            </a:r>
            <a:endParaRPr lang="en-IN" sz="2200" b="1"/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Piyush Sach</a:t>
            </a:r>
            <a:r>
              <a:rPr lang="en-US" sz="2000" spc="-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er</a:t>
            </a: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b="0" strike="noStrike" spc="-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2210990653</a:t>
            </a: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pc="-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Swati Goel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567266" y="1109743"/>
            <a:ext cx="8435461" cy="3563858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Diabetes is a chronic disease affecting millions worldwide and requires early detection for effective management.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Traditional diagnosis methods can be time-consuming and may not always identify risk at an early stage.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Machine Learning provides a powerful approach to analyze medical data and predict disease risk accurately.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This project uses advanced models like </a:t>
            </a:r>
            <a:r>
              <a:rPr lang="en-US" sz="2000" dirty="0" err="1"/>
              <a:t>LightGBM</a:t>
            </a:r>
            <a:r>
              <a:rPr lang="en-US" sz="2000" dirty="0"/>
              <a:t>, </a:t>
            </a:r>
            <a:r>
              <a:rPr lang="en-US" sz="2000" dirty="0" err="1"/>
              <a:t>CatBoost</a:t>
            </a:r>
            <a:r>
              <a:rPr lang="en-US" sz="2000" dirty="0"/>
              <a:t>, and Artificial Neural Network to predict diabetes risk.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system also integrates Explainable AI techniques to ensure transparency and trust in predictions.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AA4D0-6AE6-F438-F0C0-A3E7BC0B6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366076" cy="914040"/>
          </a:xfrm>
        </p:spPr>
        <p:txBody>
          <a:bodyPr/>
          <a:lstStyle/>
          <a:p>
            <a:r>
              <a:rPr lang="en-US" sz="4000"/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7170C-0D73-081C-ABC8-9B4180105EE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27322" y="914040"/>
            <a:ext cx="9016678" cy="540537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/>
              <a:t>Early detection of diabetes is challenging due to reliance on traditional diagnostic methods that are often time-consuming and dependent on manual analysis. Many existing systems lack accuracy and fail to identify high-risk patients at an early stage. Additionally, most machine learning models act as black boxes, making their predictions difficult to interpret. Therefore, there is a need for an efficient, accurate, and explainable system that can predict diabetes risk and support healthcare professionals in decision-making.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42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906B6-A667-F3F0-E2C6-BF80AFF2B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57E3E6-829C-73F5-F67D-7F837A6FF66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13266" y="2523067"/>
            <a:ext cx="8830734" cy="2212983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To develop a machine learning-based system to predict the risk of diabetes at an early stage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To analyze patient health data such as Glucose, BMI, Insulin, and Age for accurate prediction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To apply advanced models like </a:t>
            </a:r>
            <a:r>
              <a:rPr lang="en-US" sz="2400" dirty="0" err="1"/>
              <a:t>LightGBM</a:t>
            </a:r>
            <a:r>
              <a:rPr lang="en-US" sz="2400" dirty="0"/>
              <a:t>, </a:t>
            </a:r>
            <a:r>
              <a:rPr lang="en-US" sz="2400" dirty="0" err="1"/>
              <a:t>CatBoost</a:t>
            </a:r>
            <a:r>
              <a:rPr lang="en-US" sz="2400" dirty="0"/>
              <a:t>, and Artificial Neural Network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To improve prediction performance using data preprocessing and class balancing techniques (SMOTE)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To assist healthcare professionals in early diagnosis and decision-making </a:t>
            </a:r>
          </a:p>
        </p:txBody>
      </p:sp>
    </p:spTree>
    <p:extLst>
      <p:ext uri="{BB962C8B-B14F-4D97-AF65-F5344CB8AC3E}">
        <p14:creationId xmlns:p14="http://schemas.microsoft.com/office/powerpoint/2010/main" val="1938544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FCC49-AAEF-A336-A7D0-08F8015AF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239" y="0"/>
            <a:ext cx="5486040" cy="914040"/>
          </a:xfrm>
        </p:spPr>
        <p:txBody>
          <a:bodyPr/>
          <a:lstStyle/>
          <a:p>
            <a:r>
              <a:rPr lang="en-US"/>
              <a:t>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1860EE-E648-8AE1-3D9A-4209D72EDC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79" y="1071758"/>
            <a:ext cx="8402661" cy="504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386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3E55C-4EC6-3720-16C1-35D217F42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189E2-ECF7-FA34-E043-EAF1A5AD720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48182" y="2971980"/>
            <a:ext cx="7627717" cy="914040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Data preprocessing: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Handling missing values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Replacing invalid zero values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Feature engineering and normalization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Splitting dataset into training and testing sets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Applying multiple machine learning algorithms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Evaluating models using standard metrics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Comparing model performance using graphs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Applying Explainable AI techniques for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055021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13343-9E7F-079B-521B-1C5F88171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B325A3-5687-FB95-295B-80C5682DE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56" y="1698625"/>
            <a:ext cx="8238808" cy="392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037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845A6-258E-D189-A8A9-E919B670A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200" dirty="0"/>
              <a:t>FLOWCHART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2030A3-F90D-F8D2-D3ED-748A61480F80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834BD3-EB79-F57E-EB6B-A77A1AADE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589" y="647699"/>
            <a:ext cx="4203277" cy="628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349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8B771-1318-E131-F526-100304AA0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ML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F05878-9998-0980-A88E-B79E4F4C72F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47240" y="3345084"/>
            <a:ext cx="7604567" cy="91404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2200" dirty="0"/>
              <a:t>These are the Supervised </a:t>
            </a:r>
            <a:r>
              <a:rPr lang="en-IN" sz="2200" dirty="0" err="1"/>
              <a:t>Leanring</a:t>
            </a:r>
            <a:r>
              <a:rPr lang="en-IN" sz="2200" dirty="0"/>
              <a:t> ML models used-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Ensemble Machine Learning Models</a:t>
            </a:r>
            <a:br>
              <a:rPr lang="en-US" sz="2200" dirty="0"/>
            </a:br>
            <a:r>
              <a:rPr lang="en-US" sz="2200" dirty="0"/>
              <a:t>Used advanced ensemble models like </a:t>
            </a:r>
            <a:r>
              <a:rPr lang="en-US" sz="2200" dirty="0" err="1"/>
              <a:t>LightGBM</a:t>
            </a:r>
            <a:r>
              <a:rPr lang="en-US" sz="2200" dirty="0"/>
              <a:t>, </a:t>
            </a:r>
            <a:r>
              <a:rPr lang="en-US" sz="2200" dirty="0" err="1"/>
              <a:t>CatBoost</a:t>
            </a:r>
            <a:r>
              <a:rPr lang="en-US" sz="2200" dirty="0"/>
              <a:t>, and Extra Trees Classifier to improve prediction accuracy and robustness.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Deep Learning Model (ANN)</a:t>
            </a:r>
            <a:br>
              <a:rPr lang="en-US" sz="2200" dirty="0"/>
            </a:br>
            <a:r>
              <a:rPr lang="en-US" sz="2200" dirty="0"/>
              <a:t>Implemented an Artificial Neural Network with multiple dense layers to capture complex nonlinear relationships in diabetes data.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Handling Data Imbalance</a:t>
            </a:r>
            <a:br>
              <a:rPr lang="en-US" sz="2200" dirty="0"/>
            </a:br>
            <a:r>
              <a:rPr lang="en-US" sz="2200" dirty="0"/>
              <a:t>Applied SMOTE to balance the dataset and improve model performance on minority (diabetic) cases.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Model Evaluation &amp; Selection</a:t>
            </a:r>
            <a:br>
              <a:rPr lang="en-US" sz="2200" dirty="0"/>
            </a:br>
            <a:r>
              <a:rPr lang="en-US" sz="2200" dirty="0"/>
              <a:t>Compared models using Accuracy, Precision, Recall, F1-score, and ROC-AUC, followed by weighted scoring and statistical testing to select the best-performing model.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436520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228C6-8A49-262D-BBC4-751122A8C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ML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FF6DEA-32D3-60C8-6932-0F1C5CD00822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946A7B32-09AD-4D38-F257-BCC1CEC532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1234468"/>
            <a:ext cx="8306272" cy="434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433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C4EAB-E521-1CBB-680E-4915360F3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Evaluaton Metrics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7E435B-A362-BC77-DFD4-DDB15B936AB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81965" y="1284790"/>
            <a:ext cx="8368495" cy="4294207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/>
              <a:t>Accuracy:</a:t>
            </a:r>
            <a:r>
              <a:rPr lang="en-IN" sz="2600"/>
              <a:t> overall correctness of the model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/>
              <a:t>Precision:</a:t>
            </a:r>
            <a:r>
              <a:rPr lang="en-IN" sz="2600"/>
              <a:t> correctness of positive predictions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/>
              <a:t>Recall:</a:t>
            </a:r>
            <a:r>
              <a:rPr lang="en-IN" sz="2600"/>
              <a:t> ability to detect diabetic cases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/>
              <a:t>F1 Score:</a:t>
            </a:r>
            <a:r>
              <a:rPr lang="en-IN" sz="2600"/>
              <a:t> balance between precision and recall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/>
              <a:t>ROC-AUC:</a:t>
            </a:r>
            <a:r>
              <a:rPr lang="en-IN" sz="2600"/>
              <a:t> model’s ability to distinguish classes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751250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C955F-E9F6-DA4B-80E1-BDD845258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Explainable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AD8A7F-05D0-11E6-08F5-C6320D47A4D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90308" y="1921397"/>
            <a:ext cx="7373073" cy="2152532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/>
              <a:t>SHAP:Provides global feature importance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/>
              <a:t>Shows how each feature affects prediction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/>
              <a:t>LIME:Explains individual predictions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/>
              <a:t>Helps understand specific cases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/>
              <a:t>Improves transparency of ML models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/>
              <a:t>Builds trust among healthcare professionals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/>
              <a:t>Makes model decisions interpretable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81835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0D3B4-48F1-C21E-9F03-4A9DFF126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148BA9-C9B9-B010-C814-2D220865CD6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48970" y="1591734"/>
            <a:ext cx="8995030" cy="3885840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Extra Trees Classifier achieved the best performance with:</a:t>
            </a:r>
            <a:br>
              <a:rPr lang="en-US" sz="2200" dirty="0"/>
            </a:br>
            <a:r>
              <a:rPr lang="en-US" sz="2200" dirty="0"/>
              <a:t>85.5% Accuracy, 80.00% Precision, 95.05% Recall, 86.88% F1-score, 92.41% ROC-AUC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High Recall (95.05%) indicates excellent ability to correctly identify diabetic patients (critical in healthcare)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/>
              <a:t>CatBoost</a:t>
            </a:r>
            <a:r>
              <a:rPr lang="en-US" sz="2200" dirty="0"/>
              <a:t> and </a:t>
            </a:r>
            <a:r>
              <a:rPr lang="en-US" sz="2200" dirty="0" err="1"/>
              <a:t>LightGBM</a:t>
            </a:r>
            <a:r>
              <a:rPr lang="en-US" sz="2200" dirty="0"/>
              <a:t> both achieved 80.5% accuracy, with </a:t>
            </a:r>
            <a:r>
              <a:rPr lang="en-US" sz="2200" dirty="0" err="1"/>
              <a:t>CatBoost</a:t>
            </a:r>
            <a:r>
              <a:rPr lang="en-US" sz="2200" dirty="0"/>
              <a:t> slightly better in Recall and F1-score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Artificial Neural Network showed comparatively lower performance with 79.0% accuracy and 80.19% F1-score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Overall, tree-based ensemble models outperformed ANN, showing better reliability and stability </a:t>
            </a:r>
          </a:p>
        </p:txBody>
      </p:sp>
    </p:spTree>
    <p:extLst>
      <p:ext uri="{BB962C8B-B14F-4D97-AF65-F5344CB8AC3E}">
        <p14:creationId xmlns:p14="http://schemas.microsoft.com/office/powerpoint/2010/main" val="273461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DC048-273D-86F9-F6C9-D081FC650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3ED49-34FB-32BC-70B7-8F6FC148B9AD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29DA9A-D16D-937A-6EC7-D6DA5E041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83" y="1053427"/>
            <a:ext cx="8298434" cy="5296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080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4B954-2D3D-1239-65E1-03AC18218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42486D-AFC3-93C3-7AEC-DF74158ACF7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98814" y="2523067"/>
            <a:ext cx="9180653" cy="2383596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Successfully developed a machine learning-based system for diabetes risk prediction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Extra Trees Classifier achieved the best performance among all models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High recall ensures accurate identification of diabetic patients, which is critical in healthcare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Tree-based ensemble models outperformed the Artificial Neural Network on this dataset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Integration of Explainable AI (SHAP &amp; LIME) improved model transparency and interpretability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 system can support early diagnosis and better healthcare decision-making </a:t>
            </a:r>
          </a:p>
        </p:txBody>
      </p:sp>
    </p:spTree>
    <p:extLst>
      <p:ext uri="{BB962C8B-B14F-4D97-AF65-F5344CB8AC3E}">
        <p14:creationId xmlns:p14="http://schemas.microsoft.com/office/powerpoint/2010/main" val="3510654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ABAA8-0D01-9985-74AA-E797710B2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6B119E-FB89-09D7-1A6A-CA345077604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48182" y="1250066"/>
            <a:ext cx="6226820" cy="333314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/>
              <a:t>Integration with hospital systems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/>
              <a:t>Development of web/mobile application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/>
              <a:t>Use of deep learning models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/>
              <a:t>Inclusion of lifestyle and genetic data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/>
              <a:t>Real-time monitoring and alerts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14991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17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34764</TotalTime>
  <Words>730</Words>
  <Application>Microsoft Office PowerPoint</Application>
  <PresentationFormat>On-screen Show (4:3)</PresentationFormat>
  <Paragraphs>86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PROBLEM STATEMENT</vt:lpstr>
      <vt:lpstr>OBJECTIVE</vt:lpstr>
      <vt:lpstr>METHODOLOGY</vt:lpstr>
      <vt:lpstr>METHODOLOGY</vt:lpstr>
      <vt:lpstr>METHODOLOGY</vt:lpstr>
      <vt:lpstr>FLOWCHART</vt:lpstr>
      <vt:lpstr>ML Models</vt:lpstr>
      <vt:lpstr>ML Models</vt:lpstr>
      <vt:lpstr>Evaluaton Metrics</vt:lpstr>
      <vt:lpstr>Explainable AI</vt:lpstr>
      <vt:lpstr>Results</vt:lpstr>
      <vt:lpstr>Results</vt:lpstr>
      <vt:lpstr>CONCLUSION</vt:lpstr>
      <vt:lpstr>FUTURE SCOPE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., Muskan</cp:lastModifiedBy>
  <cp:revision>2306</cp:revision>
  <dcterms:created xsi:type="dcterms:W3CDTF">2010-04-09T07:36:15Z</dcterms:created>
  <dcterms:modified xsi:type="dcterms:W3CDTF">2026-05-18T09:05:39Z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